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1695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800" y="1371600"/>
            <a:ext cx="7498079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rPr lang="en-US" sz="4400" b="1">
                <a:solidFill>
                  <a:srgbClr val="FFFFFF"/>
                </a:solidFill>
                <a:latin typeface="Aptos"/>
              </a:rPr>
              <a:t>StartupGrow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13232" y="214884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1800">
                <a:solidFill>
                  <a:srgbClr val="DDEFE4"/>
                </a:solidFill>
              </a:defRPr>
            </a:pPr>
            <a:r>
              <a:rPr lang="en-US" sz="1800">
                <a:solidFill>
                  <a:srgbClr val="DDEFE4"/>
                </a:solidFill>
                <a:latin typeface="Aptos"/>
              </a:rPr>
              <a:t>A Digital Solutions Platform for Indian Startups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" y="5440680"/>
            <a:ext cx="69494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1200">
                <a:solidFill>
                  <a:srgbClr val="DDEFE4"/>
                </a:solidFill>
              </a:defRPr>
            </a:pPr>
            <a:r>
              <a:rPr lang="en-US" sz="1200">
                <a:solidFill>
                  <a:srgbClr val="DDEFE4"/>
                </a:solidFill>
                <a:latin typeface="Aptos"/>
              </a:rPr>
              <a:t>Yadunand Pavithran - Nashid Nihal C - Gokul Krishna</a:t>
            </a:r>
          </a:p>
        </p:txBody>
      </p:sp>
      <p:sp>
        <p:nvSpPr>
          <p:cNvPr id="5" name="Rectangle 5"/>
          <p:cNvSpPr/>
          <p:nvPr/>
        </p:nvSpPr>
        <p:spPr>
          <a:xfrm>
            <a:off x="8503920" y="1417320"/>
            <a:ext cx="1051560" cy="347472"/>
          </a:xfrm>
          <a:prstGeom prst="rect">
            <a:avLst/>
          </a:prstGeom>
          <a:solidFill>
            <a:srgbClr val="1F7A4D"/>
          </a:solidFill>
          <a:ln>
            <a:solidFill>
              <a:srgbClr val="1F7A4D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705088" y="1499616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 lang="en-US" sz="800" b="1">
                <a:solidFill>
                  <a:srgbClr val="FFFFFF"/>
                </a:solidFill>
                <a:latin typeface="Aptos"/>
              </a:rPr>
              <a:t>Next.js</a:t>
            </a:r>
          </a:p>
        </p:txBody>
      </p:sp>
      <p:sp>
        <p:nvSpPr>
          <p:cNvPr id="7" name="Rectangle 7"/>
          <p:cNvSpPr/>
          <p:nvPr/>
        </p:nvSpPr>
        <p:spPr>
          <a:xfrm>
            <a:off x="9738360" y="1417320"/>
            <a:ext cx="1143000" cy="347472"/>
          </a:xfrm>
          <a:prstGeom prst="rect">
            <a:avLst/>
          </a:prstGeom>
          <a:solidFill>
            <a:srgbClr val="22577A"/>
          </a:solidFill>
          <a:ln>
            <a:solidFill>
              <a:srgbClr val="22577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893808" y="1499616"/>
            <a:ext cx="8686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 lang="en-US" sz="800" b="1">
                <a:solidFill>
                  <a:srgbClr val="FFFFFF"/>
                </a:solidFill>
                <a:latin typeface="Aptos"/>
              </a:rPr>
              <a:t>Express.js</a:t>
            </a:r>
          </a:p>
        </p:txBody>
      </p:sp>
      <p:sp>
        <p:nvSpPr>
          <p:cNvPr id="9" name="Rectangle 9"/>
          <p:cNvSpPr/>
          <p:nvPr/>
        </p:nvSpPr>
        <p:spPr>
          <a:xfrm>
            <a:off x="9098280" y="1965960"/>
            <a:ext cx="1234440" cy="347472"/>
          </a:xfrm>
          <a:prstGeom prst="rect">
            <a:avLst/>
          </a:prstGeom>
          <a:solidFill>
            <a:srgbClr val="F59F30"/>
          </a:solidFill>
          <a:ln>
            <a:solidFill>
              <a:srgbClr val="F59F3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308592" y="2048256"/>
            <a:ext cx="8686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 lang="en-US" sz="800" b="1">
                <a:solidFill>
                  <a:srgbClr val="FFFFFF"/>
                </a:solidFill>
                <a:latin typeface="Aptos"/>
              </a:rPr>
              <a:t>MongoDB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/>
          <p:cNvSpPr txBox="1"/>
          <p:nvPr/>
        </p:nvSpPr>
        <p:spPr>
          <a:xfrm>
            <a:off x="502920" y="32004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2200">
                <a:solidFill>
                  <a:srgbClr val="17201B"/>
                </a:solidFill>
              </a:defRPr>
            </a:pPr>
            <a:r>
              <a:rPr lang="en-US" sz="2200" b="1">
                <a:solidFill>
                  <a:srgbClr val="17201B"/>
                </a:solidFill>
                <a:latin typeface="Aptos"/>
              </a:rPr>
              <a:t>Problem Statement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75520" y="6473952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rPr lang="en-US" sz="700">
                <a:solidFill>
                  <a:srgbClr val="64748B"/>
                </a:solidFill>
                <a:latin typeface="Aptos"/>
              </a:rPr>
              <a:t>StartupGrow - 2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0352" y="749808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US" sz="900">
                <a:solidFill>
                  <a:srgbClr val="64748B"/>
                </a:solidFill>
                <a:latin typeface="Aptos"/>
              </a:rPr>
              <a:t>Early-stage startups need credible digital presence without heavy agency costs.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22960" y="1508760"/>
            <a:ext cx="5577840" cy="411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-"/>
              <a:defRPr sz="1500">
                <a:solidFill>
                  <a:srgbClr val="17201B"/>
                </a:solidFill>
              </a:defRPr>
            </a:pPr>
            <a:r>
              <a:rPr lang="en-US" sz="1500">
                <a:solidFill>
                  <a:srgbClr val="17201B"/>
                </a:solidFill>
                <a:latin typeface="Aptos"/>
              </a:rPr>
              <a:t>Limited technical skills make website and marketing setup difficult.</a:t>
            </a:r>
          </a:p>
          <a:p>
            <a:pPr marL="285750" indent="-171450">
              <a:buChar char="-"/>
              <a:defRPr sz="1500">
                <a:solidFill>
                  <a:srgbClr val="17201B"/>
                </a:solidFill>
              </a:defRPr>
            </a:pPr>
            <a:r>
              <a:rPr lang="en-US" sz="1500">
                <a:solidFill>
                  <a:srgbClr val="17201B"/>
                </a:solidFill>
                <a:latin typeface="Aptos"/>
              </a:rPr>
              <a:t>Multiple service providers increase cost, delay, and communication issues.</a:t>
            </a:r>
          </a:p>
          <a:p>
            <a:pPr marL="285750" indent="-171450">
              <a:buChar char="-"/>
              <a:defRPr sz="1500">
                <a:solidFill>
                  <a:srgbClr val="17201B"/>
                </a:solidFill>
              </a:defRPr>
            </a:pPr>
            <a:r>
              <a:rPr lang="en-US" sz="1500">
                <a:solidFill>
                  <a:srgbClr val="17201B"/>
                </a:solidFill>
                <a:latin typeface="Aptos"/>
              </a:rPr>
              <a:t>Poor SEO, social media, and content strategy reduce customer reach.</a:t>
            </a:r>
          </a:p>
          <a:p>
            <a:pPr marL="285750" indent="-171450">
              <a:buChar char="-"/>
              <a:defRPr sz="1500">
                <a:solidFill>
                  <a:srgbClr val="17201B"/>
                </a:solidFill>
              </a:defRPr>
            </a:pPr>
            <a:r>
              <a:rPr lang="en-US" sz="1500">
                <a:solidFill>
                  <a:srgbClr val="17201B"/>
                </a:solidFill>
                <a:latin typeface="Aptos"/>
              </a:rPr>
              <a:t>StartupGrow centralizes affordable digital growth services.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812280" y="1371600"/>
            <a:ext cx="40233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D8E1D8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6812280" y="1371600"/>
            <a:ext cx="73152" cy="1143000"/>
          </a:xfrm>
          <a:prstGeom prst="rect">
            <a:avLst/>
          </a:prstGeom>
          <a:solidFill>
            <a:srgbClr val="1F7A4D"/>
          </a:solidFill>
          <a:ln>
            <a:solidFill>
              <a:srgbClr val="1F7A4D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7040880" y="1536192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1200">
                <a:solidFill>
                  <a:srgbClr val="17201B"/>
                </a:solidFill>
              </a:defRPr>
            </a:pPr>
            <a:r>
              <a:rPr lang="en-US" sz="1200" b="1">
                <a:solidFill>
                  <a:srgbClr val="17201B"/>
                </a:solidFill>
                <a:latin typeface="Aptos"/>
              </a:rPr>
              <a:t>Target Users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040880" y="1938528"/>
            <a:ext cx="3703320" cy="4846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US" sz="900">
                <a:solidFill>
                  <a:srgbClr val="64748B"/>
                </a:solidFill>
                <a:latin typeface="Aptos"/>
              </a:rPr>
              <a:t>Indian startups at idea, MVP, early customer, and scaling stages.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812280" y="2788920"/>
            <a:ext cx="40233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D8E1D8"/>
            </a:solidFill>
          </a:ln>
        </p:spPr>
      </p:sp>
      <p:sp>
        <p:nvSpPr>
          <p:cNvPr id="51" name="Rectangle 51"/>
          <p:cNvSpPr/>
          <p:nvPr/>
        </p:nvSpPr>
        <p:spPr>
          <a:xfrm>
            <a:off x="6812280" y="2788920"/>
            <a:ext cx="73152" cy="1143000"/>
          </a:xfrm>
          <a:prstGeom prst="rect">
            <a:avLst/>
          </a:prstGeom>
          <a:solidFill>
            <a:srgbClr val="22577A"/>
          </a:solidFill>
          <a:ln>
            <a:solidFill>
              <a:srgbClr val="22577A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7040880" y="2953512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1200">
                <a:solidFill>
                  <a:srgbClr val="17201B"/>
                </a:solidFill>
              </a:defRPr>
            </a:pPr>
            <a:r>
              <a:rPr lang="en-US" sz="1200" b="1">
                <a:solidFill>
                  <a:srgbClr val="17201B"/>
                </a:solidFill>
                <a:latin typeface="Aptos"/>
              </a:rPr>
              <a:t>Main Need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040880" y="3355848"/>
            <a:ext cx="3703320" cy="4846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US" sz="900">
                <a:solidFill>
                  <a:srgbClr val="64748B"/>
                </a:solidFill>
                <a:latin typeface="Aptos"/>
              </a:rPr>
              <a:t>A simple platform to request digital services and begin online 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/>
          <p:cNvSpPr txBox="1"/>
          <p:nvPr/>
        </p:nvSpPr>
        <p:spPr>
          <a:xfrm>
            <a:off x="502920" y="32004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2200">
                <a:solidFill>
                  <a:srgbClr val="17201B"/>
                </a:solidFill>
              </a:defRPr>
            </a:pPr>
            <a:r>
              <a:rPr lang="en-US" sz="2200" b="1">
                <a:solidFill>
                  <a:srgbClr val="17201B"/>
                </a:solidFill>
                <a:latin typeface="Aptos"/>
              </a:rPr>
              <a:t>Project Objectives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75520" y="6473952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rPr lang="en-US" sz="700">
                <a:solidFill>
                  <a:srgbClr val="64748B"/>
                </a:solidFill>
                <a:latin typeface="Aptos"/>
              </a:rPr>
              <a:t>StartupGrow - 3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0352" y="749808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US" sz="900">
                <a:solidFill>
                  <a:srgbClr val="64748B"/>
                </a:solidFill>
                <a:latin typeface="Aptos"/>
              </a:rPr>
              <a:t>The project combines service discovery, request collection, and admin tracking.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14400" y="1463040"/>
            <a:ext cx="9966960" cy="42976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-"/>
              <a:defRPr sz="1600">
                <a:solidFill>
                  <a:srgbClr val="17201B"/>
                </a:solidFill>
              </a:defRPr>
            </a:pPr>
            <a:r>
              <a:rPr lang="en-US" sz="1600">
                <a:solidFill>
                  <a:srgbClr val="17201B"/>
                </a:solidFill>
                <a:latin typeface="Aptos"/>
              </a:rPr>
              <a:t>Help startups build professional websites.</a:t>
            </a:r>
          </a:p>
          <a:p>
            <a:pPr marL="285750" indent="-171450">
              <a:buChar char="-"/>
              <a:defRPr sz="1600">
                <a:solidFill>
                  <a:srgbClr val="17201B"/>
                </a:solidFill>
              </a:defRPr>
            </a:pPr>
            <a:r>
              <a:rPr lang="en-US" sz="1600">
                <a:solidFill>
                  <a:srgbClr val="17201B"/>
                </a:solidFill>
                <a:latin typeface="Aptos"/>
              </a:rPr>
              <a:t>Provide SEO, PPC, social media, content, and email marketing.</a:t>
            </a:r>
          </a:p>
          <a:p>
            <a:pPr marL="285750" indent="-171450">
              <a:buChar char="-"/>
              <a:defRPr sz="1600">
                <a:solidFill>
                  <a:srgbClr val="17201B"/>
                </a:solidFill>
              </a:defRPr>
            </a:pPr>
            <a:r>
              <a:rPr lang="en-US" sz="1600">
                <a:solidFill>
                  <a:srgbClr val="17201B"/>
                </a:solidFill>
                <a:latin typeface="Aptos"/>
              </a:rPr>
              <a:t>Offer affordable and scalable solutions.</a:t>
            </a:r>
          </a:p>
          <a:p>
            <a:pPr marL="285750" indent="-171450">
              <a:buChar char="-"/>
              <a:defRPr sz="1600">
                <a:solidFill>
                  <a:srgbClr val="17201B"/>
                </a:solidFill>
              </a:defRPr>
            </a:pPr>
            <a:r>
              <a:rPr lang="en-US" sz="1600">
                <a:solidFill>
                  <a:srgbClr val="17201B"/>
                </a:solidFill>
                <a:latin typeface="Aptos"/>
              </a:rPr>
              <a:t>Create a simple service request and communication system.</a:t>
            </a:r>
          </a:p>
          <a:p>
            <a:pPr marL="285750" indent="-171450">
              <a:buChar char="-"/>
              <a:defRPr sz="1600">
                <a:solidFill>
                  <a:srgbClr val="17201B"/>
                </a:solidFill>
              </a:defRPr>
            </a:pPr>
            <a:r>
              <a:rPr lang="en-US" sz="1600">
                <a:solidFill>
                  <a:srgbClr val="17201B"/>
                </a:solidFill>
                <a:latin typeface="Aptos"/>
              </a:rPr>
              <a:t>Support request management through a basic admin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/>
          <p:cNvSpPr txBox="1"/>
          <p:nvPr/>
        </p:nvSpPr>
        <p:spPr>
          <a:xfrm>
            <a:off x="502920" y="32004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2200">
                <a:solidFill>
                  <a:srgbClr val="17201B"/>
                </a:solidFill>
              </a:defRPr>
            </a:pPr>
            <a:r>
              <a:rPr lang="en-US" sz="2200" b="1">
                <a:solidFill>
                  <a:srgbClr val="17201B"/>
                </a:solidFill>
                <a:latin typeface="Aptos"/>
              </a:rPr>
              <a:t>Core Services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75520" y="6473952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rPr lang="en-US" sz="700">
                <a:solidFill>
                  <a:srgbClr val="64748B"/>
                </a:solidFill>
                <a:latin typeface="Aptos"/>
              </a:rPr>
              <a:t>StartupGrow - 4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0352" y="749808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US" sz="900">
                <a:solidFill>
                  <a:srgbClr val="64748B"/>
                </a:solidFill>
                <a:latin typeface="Aptos"/>
              </a:rPr>
              <a:t>StartupGrow works as a one-stop digital service platform.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85800" y="1325880"/>
            <a:ext cx="324612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8E1D8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685800" y="1325880"/>
            <a:ext cx="73152" cy="1417320"/>
          </a:xfrm>
          <a:prstGeom prst="rect">
            <a:avLst/>
          </a:prstGeom>
          <a:solidFill>
            <a:srgbClr val="1F7A4D"/>
          </a:solidFill>
          <a:ln>
            <a:solidFill>
              <a:srgbClr val="1F7A4D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914400" y="1490472"/>
            <a:ext cx="2926079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1200">
                <a:solidFill>
                  <a:srgbClr val="17201B"/>
                </a:solidFill>
              </a:defRPr>
            </a:pPr>
            <a:r>
              <a:rPr lang="en-US" sz="1200" b="1">
                <a:solidFill>
                  <a:srgbClr val="17201B"/>
                </a:solidFill>
                <a:latin typeface="Aptos"/>
              </a:rPr>
              <a:t>SEO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14400" y="1892807"/>
            <a:ext cx="2926079" cy="75895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US" sz="900">
                <a:solidFill>
                  <a:srgbClr val="64748B"/>
                </a:solidFill>
                <a:latin typeface="Aptos"/>
              </a:rPr>
              <a:t>Improve search ranking and organic traffic.</a:t>
            </a:r>
          </a:p>
        </p:txBody>
      </p:sp>
      <p:sp>
        <p:nvSpPr>
          <p:cNvPr id="45" name="Rectangle 45"/>
          <p:cNvSpPr/>
          <p:nvPr/>
        </p:nvSpPr>
        <p:spPr>
          <a:xfrm>
            <a:off x="4434840" y="1325880"/>
            <a:ext cx="324612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8E1D8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4434840" y="1325880"/>
            <a:ext cx="73152" cy="1417320"/>
          </a:xfrm>
          <a:prstGeom prst="rect">
            <a:avLst/>
          </a:prstGeom>
          <a:solidFill>
            <a:srgbClr val="22577A"/>
          </a:solidFill>
          <a:ln>
            <a:solidFill>
              <a:srgbClr val="22577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4663440" y="1490472"/>
            <a:ext cx="2926079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1200">
                <a:solidFill>
                  <a:srgbClr val="17201B"/>
                </a:solidFill>
              </a:defRPr>
            </a:pPr>
            <a:r>
              <a:rPr lang="en-US" sz="1200" b="1">
                <a:solidFill>
                  <a:srgbClr val="17201B"/>
                </a:solidFill>
                <a:latin typeface="Aptos"/>
              </a:rPr>
              <a:t>PPC Advertising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663440" y="1892807"/>
            <a:ext cx="2926079" cy="75895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US" sz="900">
                <a:solidFill>
                  <a:srgbClr val="64748B"/>
                </a:solidFill>
                <a:latin typeface="Aptos"/>
              </a:rPr>
              <a:t>Run focused paid campaigns on Google and Instagram.</a:t>
            </a:r>
          </a:p>
        </p:txBody>
      </p:sp>
      <p:sp>
        <p:nvSpPr>
          <p:cNvPr id="50" name="Rectangle 50"/>
          <p:cNvSpPr/>
          <p:nvPr/>
        </p:nvSpPr>
        <p:spPr>
          <a:xfrm>
            <a:off x="8183879" y="1325880"/>
            <a:ext cx="324612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8E1D8"/>
            </a:solidFill>
          </a:ln>
        </p:spPr>
      </p:sp>
      <p:sp>
        <p:nvSpPr>
          <p:cNvPr id="51" name="Rectangle 51"/>
          <p:cNvSpPr/>
          <p:nvPr/>
        </p:nvSpPr>
        <p:spPr>
          <a:xfrm>
            <a:off x="8183879" y="1325880"/>
            <a:ext cx="73152" cy="1417320"/>
          </a:xfrm>
          <a:prstGeom prst="rect">
            <a:avLst/>
          </a:prstGeom>
          <a:solidFill>
            <a:srgbClr val="1F7A4D"/>
          </a:solidFill>
          <a:ln>
            <a:solidFill>
              <a:srgbClr val="1F7A4D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8412480" y="1490472"/>
            <a:ext cx="2926079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1200">
                <a:solidFill>
                  <a:srgbClr val="17201B"/>
                </a:solidFill>
              </a:defRPr>
            </a:pPr>
            <a:r>
              <a:rPr lang="en-US" sz="1200" b="1">
                <a:solidFill>
                  <a:srgbClr val="17201B"/>
                </a:solidFill>
                <a:latin typeface="Aptos"/>
              </a:rPr>
              <a:t>Social Media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412480" y="1892807"/>
            <a:ext cx="2926079" cy="75895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US" sz="900">
                <a:solidFill>
                  <a:srgbClr val="64748B"/>
                </a:solidFill>
                <a:latin typeface="Aptos"/>
              </a:rPr>
              <a:t>Manage profiles, posts, and campaigns.</a:t>
            </a:r>
          </a:p>
        </p:txBody>
      </p:sp>
      <p:sp>
        <p:nvSpPr>
          <p:cNvPr id="55" name="Rectangle 55"/>
          <p:cNvSpPr/>
          <p:nvPr/>
        </p:nvSpPr>
        <p:spPr>
          <a:xfrm>
            <a:off x="685800" y="3200400"/>
            <a:ext cx="324612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8E1D8"/>
            </a:solidFill>
          </a:ln>
        </p:spPr>
      </p:sp>
      <p:sp>
        <p:nvSpPr>
          <p:cNvPr id="56" name="Rectangle 56"/>
          <p:cNvSpPr/>
          <p:nvPr/>
        </p:nvSpPr>
        <p:spPr>
          <a:xfrm>
            <a:off x="685800" y="3200400"/>
            <a:ext cx="73152" cy="1417320"/>
          </a:xfrm>
          <a:prstGeom prst="rect">
            <a:avLst/>
          </a:prstGeom>
          <a:solidFill>
            <a:srgbClr val="22577A"/>
          </a:solidFill>
          <a:ln>
            <a:solidFill>
              <a:srgbClr val="22577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14400" y="3364992"/>
            <a:ext cx="2926079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1200">
                <a:solidFill>
                  <a:srgbClr val="17201B"/>
                </a:solidFill>
              </a:defRPr>
            </a:pPr>
            <a:r>
              <a:rPr lang="en-US" sz="1200" b="1">
                <a:solidFill>
                  <a:srgbClr val="17201B"/>
                </a:solidFill>
                <a:latin typeface="Aptos"/>
              </a:rPr>
              <a:t>Content Marketing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14400" y="3767328"/>
            <a:ext cx="2926079" cy="75895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US" sz="900">
                <a:solidFill>
                  <a:srgbClr val="64748B"/>
                </a:solidFill>
                <a:latin typeface="Aptos"/>
              </a:rPr>
              <a:t>Create blogs, videos, and launch content.</a:t>
            </a:r>
          </a:p>
        </p:txBody>
      </p:sp>
      <p:sp>
        <p:nvSpPr>
          <p:cNvPr id="60" name="Rectangle 60"/>
          <p:cNvSpPr/>
          <p:nvPr/>
        </p:nvSpPr>
        <p:spPr>
          <a:xfrm>
            <a:off x="4434840" y="3200400"/>
            <a:ext cx="324612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8E1D8"/>
            </a:solidFill>
          </a:ln>
        </p:spPr>
      </p:sp>
      <p:sp>
        <p:nvSpPr>
          <p:cNvPr id="61" name="Rectangle 61"/>
          <p:cNvSpPr/>
          <p:nvPr/>
        </p:nvSpPr>
        <p:spPr>
          <a:xfrm>
            <a:off x="4434840" y="3200400"/>
            <a:ext cx="73152" cy="1417320"/>
          </a:xfrm>
          <a:prstGeom prst="rect">
            <a:avLst/>
          </a:prstGeom>
          <a:solidFill>
            <a:srgbClr val="1F7A4D"/>
          </a:solidFill>
          <a:ln>
            <a:solidFill>
              <a:srgbClr val="1F7A4D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4663440" y="3364992"/>
            <a:ext cx="2926079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1200">
                <a:solidFill>
                  <a:srgbClr val="17201B"/>
                </a:solidFill>
              </a:defRPr>
            </a:pPr>
            <a:r>
              <a:rPr lang="en-US" sz="1200" b="1">
                <a:solidFill>
                  <a:srgbClr val="17201B"/>
                </a:solidFill>
                <a:latin typeface="Aptos"/>
              </a:rPr>
              <a:t>Email Marketing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663440" y="3767328"/>
            <a:ext cx="2926079" cy="75895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US" sz="900">
                <a:solidFill>
                  <a:srgbClr val="64748B"/>
                </a:solidFill>
                <a:latin typeface="Aptos"/>
              </a:rPr>
              <a:t>Send promotional campaigns and newsletters.</a:t>
            </a:r>
          </a:p>
        </p:txBody>
      </p:sp>
      <p:sp>
        <p:nvSpPr>
          <p:cNvPr id="65" name="Rectangle 65"/>
          <p:cNvSpPr/>
          <p:nvPr/>
        </p:nvSpPr>
        <p:spPr>
          <a:xfrm>
            <a:off x="8183879" y="3200400"/>
            <a:ext cx="324612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8E1D8"/>
            </a:solidFill>
          </a:ln>
        </p:spPr>
      </p:sp>
      <p:sp>
        <p:nvSpPr>
          <p:cNvPr id="66" name="Rectangle 66"/>
          <p:cNvSpPr/>
          <p:nvPr/>
        </p:nvSpPr>
        <p:spPr>
          <a:xfrm>
            <a:off x="8183879" y="3200400"/>
            <a:ext cx="73152" cy="1417320"/>
          </a:xfrm>
          <a:prstGeom prst="rect">
            <a:avLst/>
          </a:prstGeom>
          <a:solidFill>
            <a:srgbClr val="22577A"/>
          </a:solidFill>
          <a:ln>
            <a:solidFill>
              <a:srgbClr val="22577A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8412480" y="3364992"/>
            <a:ext cx="2926079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1200">
                <a:solidFill>
                  <a:srgbClr val="17201B"/>
                </a:solidFill>
              </a:defRPr>
            </a:pPr>
            <a:r>
              <a:rPr lang="en-US" sz="1200" b="1">
                <a:solidFill>
                  <a:srgbClr val="17201B"/>
                </a:solidFill>
                <a:latin typeface="Aptos"/>
              </a:rPr>
              <a:t>Web Development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8412480" y="3767328"/>
            <a:ext cx="2926079" cy="75895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US" sz="900">
                <a:solidFill>
                  <a:srgbClr val="64748B"/>
                </a:solidFill>
                <a:latin typeface="Aptos"/>
              </a:rPr>
              <a:t>Build responsive websites that convert visitors.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/>
          <p:cNvSpPr txBox="1"/>
          <p:nvPr/>
        </p:nvSpPr>
        <p:spPr>
          <a:xfrm>
            <a:off x="502920" y="32004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2200">
                <a:solidFill>
                  <a:srgbClr val="17201B"/>
                </a:solidFill>
              </a:defRPr>
            </a:pPr>
            <a:r>
              <a:rPr lang="en-US" sz="2200" b="1">
                <a:solidFill>
                  <a:srgbClr val="17201B"/>
                </a:solidFill>
                <a:latin typeface="Aptos"/>
              </a:rPr>
              <a:t>Proposed System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75520" y="6473952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rPr lang="en-US" sz="700">
                <a:solidFill>
                  <a:srgbClr val="64748B"/>
                </a:solidFill>
                <a:latin typeface="Aptos"/>
              </a:rPr>
              <a:t>StartupGrow - 5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0352" y="749808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US" sz="900">
                <a:solidFill>
                  <a:srgbClr val="64748B"/>
                </a:solidFill>
                <a:latin typeface="Aptos"/>
              </a:rPr>
              <a:t>The platform connects founders, requests, admin tracking, and database storage.</a:t>
            </a:r>
          </a:p>
        </p:txBody>
      </p:sp>
      <p:sp>
        <p:nvSpPr>
          <p:cNvPr id="40" name="Rectangle 40"/>
          <p:cNvSpPr/>
          <p:nvPr/>
        </p:nvSpPr>
        <p:spPr>
          <a:xfrm>
            <a:off x="731520" y="2011680"/>
            <a:ext cx="20574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8E1D8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731520" y="2011680"/>
            <a:ext cx="73152" cy="1051560"/>
          </a:xfrm>
          <a:prstGeom prst="rect">
            <a:avLst/>
          </a:prstGeom>
          <a:solidFill>
            <a:srgbClr val="1F7A4D"/>
          </a:solidFill>
          <a:ln>
            <a:solidFill>
              <a:srgbClr val="1F7A4D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960120" y="217627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1200">
                <a:solidFill>
                  <a:srgbClr val="17201B"/>
                </a:solidFill>
              </a:defRPr>
            </a:pPr>
            <a:r>
              <a:rPr lang="en-US" sz="1200" b="1">
                <a:solidFill>
                  <a:srgbClr val="17201B"/>
                </a:solidFill>
                <a:latin typeface="Aptos"/>
              </a:rPr>
              <a:t>Startup Founder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60120" y="2578608"/>
            <a:ext cx="1737360" cy="393191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US" sz="900">
                <a:solidFill>
                  <a:srgbClr val="64748B"/>
                </a:solidFill>
                <a:latin typeface="Aptos"/>
              </a:rPr>
              <a:t>Explores services and submits project details.</a:t>
            </a:r>
          </a:p>
        </p:txBody>
      </p:sp>
      <p:sp>
        <p:nvSpPr>
          <p:cNvPr id="50" name="Rectangle 50"/>
          <p:cNvSpPr/>
          <p:nvPr/>
        </p:nvSpPr>
        <p:spPr>
          <a:xfrm>
            <a:off x="3337560" y="1508760"/>
            <a:ext cx="24231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8E1D8"/>
            </a:solidFill>
          </a:ln>
        </p:spPr>
      </p:sp>
      <p:sp>
        <p:nvSpPr>
          <p:cNvPr id="51" name="Rectangle 51"/>
          <p:cNvSpPr/>
          <p:nvPr/>
        </p:nvSpPr>
        <p:spPr>
          <a:xfrm>
            <a:off x="3337560" y="1508760"/>
            <a:ext cx="73152" cy="1554480"/>
          </a:xfrm>
          <a:prstGeom prst="rect">
            <a:avLst/>
          </a:prstGeom>
          <a:solidFill>
            <a:srgbClr val="22577A"/>
          </a:solidFill>
          <a:ln>
            <a:solidFill>
              <a:srgbClr val="22577A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3566160" y="1673351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1200">
                <a:solidFill>
                  <a:srgbClr val="17201B"/>
                </a:solidFill>
              </a:defRPr>
            </a:pPr>
            <a:r>
              <a:rPr lang="en-US" sz="1200" b="1">
                <a:solidFill>
                  <a:srgbClr val="17201B"/>
                </a:solidFill>
                <a:latin typeface="Aptos"/>
              </a:rPr>
              <a:t>Next.js Frontend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566160" y="2075688"/>
            <a:ext cx="2103120" cy="89611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US" sz="900">
                <a:solidFill>
                  <a:srgbClr val="64748B"/>
                </a:solidFill>
                <a:latin typeface="Aptos"/>
              </a:rPr>
              <a:t>Responsive website, service listing, request form, dashboard UI.</a:t>
            </a:r>
          </a:p>
        </p:txBody>
      </p:sp>
      <p:sp>
        <p:nvSpPr>
          <p:cNvPr id="60" name="Rectangle 60"/>
          <p:cNvSpPr/>
          <p:nvPr/>
        </p:nvSpPr>
        <p:spPr>
          <a:xfrm>
            <a:off x="6355080" y="2011680"/>
            <a:ext cx="20574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8E1D8"/>
            </a:solidFill>
          </a:ln>
        </p:spPr>
      </p:sp>
      <p:sp>
        <p:nvSpPr>
          <p:cNvPr id="61" name="Rectangle 61"/>
          <p:cNvSpPr/>
          <p:nvPr/>
        </p:nvSpPr>
        <p:spPr>
          <a:xfrm>
            <a:off x="6355080" y="2011680"/>
            <a:ext cx="73152" cy="1051560"/>
          </a:xfrm>
          <a:prstGeom prst="rect">
            <a:avLst/>
          </a:prstGeom>
          <a:solidFill>
            <a:srgbClr val="F59F30"/>
          </a:solidFill>
          <a:ln>
            <a:solidFill>
              <a:srgbClr val="F59F30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6583680" y="217627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1200">
                <a:solidFill>
                  <a:srgbClr val="17201B"/>
                </a:solidFill>
              </a:defRPr>
            </a:pPr>
            <a:r>
              <a:rPr lang="en-US" sz="1200" b="1">
                <a:solidFill>
                  <a:srgbClr val="17201B"/>
                </a:solidFill>
                <a:latin typeface="Aptos"/>
              </a:rPr>
              <a:t>Express API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583680" y="2578608"/>
            <a:ext cx="1737360" cy="393191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US" sz="900">
                <a:solidFill>
                  <a:srgbClr val="64748B"/>
                </a:solidFill>
                <a:latin typeface="Aptos"/>
              </a:rPr>
              <a:t>Validates requests and manages records.</a:t>
            </a:r>
          </a:p>
        </p:txBody>
      </p:sp>
      <p:sp>
        <p:nvSpPr>
          <p:cNvPr id="70" name="Rectangle 70"/>
          <p:cNvSpPr/>
          <p:nvPr/>
        </p:nvSpPr>
        <p:spPr>
          <a:xfrm>
            <a:off x="8961120" y="2011680"/>
            <a:ext cx="20574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8E1D8"/>
            </a:solidFill>
          </a:ln>
        </p:spPr>
      </p:sp>
      <p:sp>
        <p:nvSpPr>
          <p:cNvPr id="71" name="Rectangle 71"/>
          <p:cNvSpPr/>
          <p:nvPr/>
        </p:nvSpPr>
        <p:spPr>
          <a:xfrm>
            <a:off x="8961120" y="2011680"/>
            <a:ext cx="73152" cy="1051560"/>
          </a:xfrm>
          <a:prstGeom prst="rect">
            <a:avLst/>
          </a:prstGeom>
          <a:solidFill>
            <a:srgbClr val="1F7A4D"/>
          </a:solidFill>
          <a:ln>
            <a:solidFill>
              <a:srgbClr val="1F7A4D"/>
            </a:solidFill>
          </a:ln>
        </p:spPr>
      </p:sp>
      <p:sp>
        <p:nvSpPr>
          <p:cNvPr id="72" name="TextBox 72"/>
          <p:cNvSpPr txBox="1"/>
          <p:nvPr/>
        </p:nvSpPr>
        <p:spPr>
          <a:xfrm>
            <a:off x="9189720" y="217627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1200">
                <a:solidFill>
                  <a:srgbClr val="17201B"/>
                </a:solidFill>
              </a:defRPr>
            </a:pPr>
            <a:r>
              <a:rPr lang="en-US" sz="1200" b="1">
                <a:solidFill>
                  <a:srgbClr val="17201B"/>
                </a:solidFill>
                <a:latin typeface="Aptos"/>
              </a:rPr>
              <a:t>MongoDB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9189720" y="2578608"/>
            <a:ext cx="1737360" cy="393191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US" sz="900">
                <a:solidFill>
                  <a:srgbClr val="64748B"/>
                </a:solidFill>
                <a:latin typeface="Aptos"/>
              </a:rPr>
              <a:t>Stores client details and service requests.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234440" y="416052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2000">
                <a:solidFill>
                  <a:srgbClr val="17201B"/>
                </a:solidFill>
              </a:defRPr>
            </a:pPr>
            <a:r>
              <a:rPr lang="en-US" sz="2000" b="1">
                <a:solidFill>
                  <a:srgbClr val="17201B"/>
                </a:solidFill>
                <a:latin typeface="Aptos"/>
              </a:rPr>
              <a:t>Founder -&gt; Frontend -&gt; API -&gt; Database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/>
          <p:cNvSpPr txBox="1"/>
          <p:nvPr/>
        </p:nvSpPr>
        <p:spPr>
          <a:xfrm>
            <a:off x="502920" y="32004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2200">
                <a:solidFill>
                  <a:srgbClr val="17201B"/>
                </a:solidFill>
              </a:defRPr>
            </a:pPr>
            <a:r>
              <a:rPr lang="en-US" sz="2200" b="1">
                <a:solidFill>
                  <a:srgbClr val="17201B"/>
                </a:solidFill>
                <a:latin typeface="Aptos"/>
              </a:rPr>
              <a:t>Modules of the System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75520" y="6473952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rPr lang="en-US" sz="700">
                <a:solidFill>
                  <a:srgbClr val="64748B"/>
                </a:solidFill>
                <a:latin typeface="Aptos"/>
              </a:rPr>
              <a:t>StartupGrow - 6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0352" y="749808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US" sz="900">
                <a:solidFill>
                  <a:srgbClr val="64748B"/>
                </a:solidFill>
                <a:latin typeface="Aptos"/>
              </a:rPr>
              <a:t>Each module maps to a clear project responsibility.</a:t>
            </a:r>
          </a:p>
        </p:txBody>
      </p:sp>
      <p:sp>
        <p:nvSpPr>
          <p:cNvPr id="40" name="Rectangle 40"/>
          <p:cNvSpPr/>
          <p:nvPr/>
        </p:nvSpPr>
        <p:spPr>
          <a:xfrm>
            <a:off x="960120" y="1417320"/>
            <a:ext cx="452628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8E1D8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960120" y="1417320"/>
            <a:ext cx="73152" cy="1417320"/>
          </a:xfrm>
          <a:prstGeom prst="rect">
            <a:avLst/>
          </a:prstGeom>
          <a:solidFill>
            <a:srgbClr val="1F7A4D"/>
          </a:solidFill>
          <a:ln>
            <a:solidFill>
              <a:srgbClr val="1F7A4D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1188720" y="158191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1200">
                <a:solidFill>
                  <a:srgbClr val="17201B"/>
                </a:solidFill>
              </a:defRPr>
            </a:pPr>
            <a:r>
              <a:rPr lang="en-US" sz="1200" b="1">
                <a:solidFill>
                  <a:srgbClr val="17201B"/>
                </a:solidFill>
                <a:latin typeface="Aptos"/>
              </a:rPr>
              <a:t>User Interface Module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88720" y="1984248"/>
            <a:ext cx="4206240" cy="75895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US" sz="900">
                <a:solidFill>
                  <a:srgbClr val="64748B"/>
                </a:solidFill>
                <a:latin typeface="Aptos"/>
              </a:rPr>
              <a:t>Displays website content and service navigation.</a:t>
            </a:r>
          </a:p>
        </p:txBody>
      </p:sp>
      <p:sp>
        <p:nvSpPr>
          <p:cNvPr id="45" name="Rectangle 45"/>
          <p:cNvSpPr/>
          <p:nvPr/>
        </p:nvSpPr>
        <p:spPr>
          <a:xfrm>
            <a:off x="6217920" y="1417320"/>
            <a:ext cx="452628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8E1D8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6217920" y="1417320"/>
            <a:ext cx="73152" cy="1417320"/>
          </a:xfrm>
          <a:prstGeom prst="rect">
            <a:avLst/>
          </a:prstGeom>
          <a:solidFill>
            <a:srgbClr val="22577A"/>
          </a:solidFill>
          <a:ln>
            <a:solidFill>
              <a:srgbClr val="22577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6446520" y="158191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1200">
                <a:solidFill>
                  <a:srgbClr val="17201B"/>
                </a:solidFill>
              </a:defRPr>
            </a:pPr>
            <a:r>
              <a:rPr lang="en-US" sz="1200" b="1">
                <a:solidFill>
                  <a:srgbClr val="17201B"/>
                </a:solidFill>
                <a:latin typeface="Aptos"/>
              </a:rPr>
              <a:t>Service Module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446520" y="1984248"/>
            <a:ext cx="4206240" cy="75895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US" sz="900">
                <a:solidFill>
                  <a:srgbClr val="64748B"/>
                </a:solidFill>
                <a:latin typeface="Aptos"/>
              </a:rPr>
              <a:t>Shows all digital services with details.</a:t>
            </a:r>
          </a:p>
        </p:txBody>
      </p:sp>
      <p:sp>
        <p:nvSpPr>
          <p:cNvPr id="50" name="Rectangle 50"/>
          <p:cNvSpPr/>
          <p:nvPr/>
        </p:nvSpPr>
        <p:spPr>
          <a:xfrm>
            <a:off x="960120" y="3383280"/>
            <a:ext cx="452628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8E1D8"/>
            </a:solidFill>
          </a:ln>
        </p:spPr>
      </p:sp>
      <p:sp>
        <p:nvSpPr>
          <p:cNvPr id="51" name="Rectangle 51"/>
          <p:cNvSpPr/>
          <p:nvPr/>
        </p:nvSpPr>
        <p:spPr>
          <a:xfrm>
            <a:off x="960120" y="3383280"/>
            <a:ext cx="73152" cy="1417320"/>
          </a:xfrm>
          <a:prstGeom prst="rect">
            <a:avLst/>
          </a:prstGeom>
          <a:solidFill>
            <a:srgbClr val="1F7A4D"/>
          </a:solidFill>
          <a:ln>
            <a:solidFill>
              <a:srgbClr val="1F7A4D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1188720" y="354787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1200">
                <a:solidFill>
                  <a:srgbClr val="17201B"/>
                </a:solidFill>
              </a:defRPr>
            </a:pPr>
            <a:r>
              <a:rPr lang="en-US" sz="1200" b="1">
                <a:solidFill>
                  <a:srgbClr val="17201B"/>
                </a:solidFill>
                <a:latin typeface="Aptos"/>
              </a:rPr>
              <a:t>Contact &amp; Request Module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88720" y="3950208"/>
            <a:ext cx="4206240" cy="75895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US" sz="900">
                <a:solidFill>
                  <a:srgbClr val="64748B"/>
                </a:solidFill>
                <a:latin typeface="Aptos"/>
              </a:rPr>
              <a:t>Collects client information and project goals.</a:t>
            </a:r>
          </a:p>
        </p:txBody>
      </p:sp>
      <p:sp>
        <p:nvSpPr>
          <p:cNvPr id="55" name="Rectangle 55"/>
          <p:cNvSpPr/>
          <p:nvPr/>
        </p:nvSpPr>
        <p:spPr>
          <a:xfrm>
            <a:off x="6217920" y="3383280"/>
            <a:ext cx="452628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8E1D8"/>
            </a:solidFill>
          </a:ln>
        </p:spPr>
      </p:sp>
      <p:sp>
        <p:nvSpPr>
          <p:cNvPr id="56" name="Rectangle 56"/>
          <p:cNvSpPr/>
          <p:nvPr/>
        </p:nvSpPr>
        <p:spPr>
          <a:xfrm>
            <a:off x="6217920" y="3383280"/>
            <a:ext cx="73152" cy="1417320"/>
          </a:xfrm>
          <a:prstGeom prst="rect">
            <a:avLst/>
          </a:prstGeom>
          <a:solidFill>
            <a:srgbClr val="22577A"/>
          </a:solidFill>
          <a:ln>
            <a:solidFill>
              <a:srgbClr val="22577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6446520" y="354787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1200">
                <a:solidFill>
                  <a:srgbClr val="17201B"/>
                </a:solidFill>
              </a:defRPr>
            </a:pPr>
            <a:r>
              <a:rPr lang="en-US" sz="1200" b="1">
                <a:solidFill>
                  <a:srgbClr val="17201B"/>
                </a:solidFill>
                <a:latin typeface="Aptos"/>
              </a:rPr>
              <a:t>Admin Module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446520" y="3950208"/>
            <a:ext cx="4206240" cy="75895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US" sz="900">
                <a:solidFill>
                  <a:srgbClr val="64748B"/>
                </a:solidFill>
                <a:latin typeface="Aptos"/>
              </a:rPr>
              <a:t>Manages client details and tracks request status.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/>
          <p:cNvSpPr txBox="1"/>
          <p:nvPr/>
        </p:nvSpPr>
        <p:spPr>
          <a:xfrm>
            <a:off x="502920" y="32004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2200">
                <a:solidFill>
                  <a:srgbClr val="17201B"/>
                </a:solidFill>
              </a:defRPr>
            </a:pPr>
            <a:r>
              <a:rPr lang="en-US" sz="2200" b="1">
                <a:solidFill>
                  <a:srgbClr val="17201B"/>
                </a:solidFill>
                <a:latin typeface="Aptos"/>
              </a:rPr>
              <a:t>Database Design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75520" y="6473952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rPr lang="en-US" sz="700">
                <a:solidFill>
                  <a:srgbClr val="64748B"/>
                </a:solidFill>
                <a:latin typeface="Aptos"/>
              </a:rPr>
              <a:t>StartupGrow - 7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0352" y="749808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US" sz="900">
                <a:solidFill>
                  <a:srgbClr val="64748B"/>
                </a:solidFill>
                <a:latin typeface="Aptos"/>
              </a:rPr>
              <a:t>The first version centers on service request data.</a:t>
            </a:r>
          </a:p>
        </p:txBody>
      </p:sp>
      <p:sp>
        <p:nvSpPr>
          <p:cNvPr id="40" name="Rectangle 40"/>
          <p:cNvSpPr/>
          <p:nvPr/>
        </p:nvSpPr>
        <p:spPr>
          <a:xfrm>
            <a:off x="914400" y="1325880"/>
            <a:ext cx="4663440" cy="3017520"/>
          </a:xfrm>
          <a:prstGeom prst="rect">
            <a:avLst/>
          </a:prstGeom>
          <a:solidFill>
            <a:srgbClr val="FFFFFF"/>
          </a:solidFill>
          <a:ln>
            <a:solidFill>
              <a:srgbClr val="D8E1D8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914400" y="1325880"/>
            <a:ext cx="73152" cy="3017520"/>
          </a:xfrm>
          <a:prstGeom prst="rect">
            <a:avLst/>
          </a:prstGeom>
          <a:solidFill>
            <a:srgbClr val="1F7A4D"/>
          </a:solidFill>
          <a:ln>
            <a:solidFill>
              <a:srgbClr val="1F7A4D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1143000" y="1490472"/>
            <a:ext cx="4343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1200">
                <a:solidFill>
                  <a:srgbClr val="17201B"/>
                </a:solidFill>
              </a:defRPr>
            </a:pPr>
            <a:r>
              <a:rPr lang="en-US" sz="1200" b="1">
                <a:solidFill>
                  <a:srgbClr val="17201B"/>
                </a:solidFill>
                <a:latin typeface="Aptos"/>
              </a:rPr>
              <a:t>SERVICE_REQUEST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43000" y="1892807"/>
            <a:ext cx="4343400" cy="235915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US" sz="900">
                <a:solidFill>
                  <a:srgbClr val="64748B"/>
                </a:solidFill>
                <a:latin typeface="Aptos"/>
              </a:rPr>
              <a:t>startupName, founderName, email, phone, city, stage, service, budget, message, status, createdAt, updatedAt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492240" y="1325880"/>
            <a:ext cx="205740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8E1D8"/>
            </a:solidFill>
          </a:ln>
        </p:spPr>
      </p:sp>
      <p:sp>
        <p:nvSpPr>
          <p:cNvPr id="51" name="Rectangle 51"/>
          <p:cNvSpPr/>
          <p:nvPr/>
        </p:nvSpPr>
        <p:spPr>
          <a:xfrm>
            <a:off x="6492240" y="1325880"/>
            <a:ext cx="73152" cy="1325880"/>
          </a:xfrm>
          <a:prstGeom prst="rect">
            <a:avLst/>
          </a:prstGeom>
          <a:solidFill>
            <a:srgbClr val="22577A"/>
          </a:solidFill>
          <a:ln>
            <a:solidFill>
              <a:srgbClr val="22577A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6720840" y="149047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1200">
                <a:solidFill>
                  <a:srgbClr val="17201B"/>
                </a:solidFill>
              </a:defRPr>
            </a:pPr>
            <a:r>
              <a:rPr lang="en-US" sz="1200" b="1">
                <a:solidFill>
                  <a:srgbClr val="17201B"/>
                </a:solidFill>
                <a:latin typeface="Aptos"/>
              </a:rPr>
              <a:t>SERVICE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720840" y="1892807"/>
            <a:ext cx="1737360" cy="66751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US" sz="900">
                <a:solidFill>
                  <a:srgbClr val="64748B"/>
                </a:solidFill>
                <a:latin typeface="Aptos"/>
              </a:rPr>
              <a:t>name, category, description</a:t>
            </a:r>
          </a:p>
        </p:txBody>
      </p:sp>
      <p:sp>
        <p:nvSpPr>
          <p:cNvPr id="60" name="Rectangle 60"/>
          <p:cNvSpPr/>
          <p:nvPr/>
        </p:nvSpPr>
        <p:spPr>
          <a:xfrm>
            <a:off x="6492240" y="3017520"/>
            <a:ext cx="205740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8E1D8"/>
            </a:solidFill>
          </a:ln>
        </p:spPr>
      </p:sp>
      <p:sp>
        <p:nvSpPr>
          <p:cNvPr id="61" name="Rectangle 61"/>
          <p:cNvSpPr/>
          <p:nvPr/>
        </p:nvSpPr>
        <p:spPr>
          <a:xfrm>
            <a:off x="6492240" y="3017520"/>
            <a:ext cx="73152" cy="1325880"/>
          </a:xfrm>
          <a:prstGeom prst="rect">
            <a:avLst/>
          </a:prstGeom>
          <a:solidFill>
            <a:srgbClr val="F59F30"/>
          </a:solidFill>
          <a:ln>
            <a:solidFill>
              <a:srgbClr val="F59F30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6720840" y="318211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1200">
                <a:solidFill>
                  <a:srgbClr val="17201B"/>
                </a:solidFill>
              </a:defRPr>
            </a:pPr>
            <a:r>
              <a:rPr lang="en-US" sz="1200" b="1">
                <a:solidFill>
                  <a:srgbClr val="17201B"/>
                </a:solidFill>
                <a:latin typeface="Aptos"/>
              </a:rPr>
              <a:t>ADMIN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720840" y="3584448"/>
            <a:ext cx="1737360" cy="66751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US" sz="900">
                <a:solidFill>
                  <a:srgbClr val="64748B"/>
                </a:solidFill>
                <a:latin typeface="Aptos"/>
              </a:rPr>
              <a:t>name, email, role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960120" y="498348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1500">
                <a:solidFill>
                  <a:srgbClr val="17201B"/>
                </a:solidFill>
              </a:defRPr>
            </a:pPr>
            <a:r>
              <a:rPr lang="en-US" sz="1500" b="1">
                <a:solidFill>
                  <a:srgbClr val="17201B"/>
                </a:solidFill>
                <a:latin typeface="Aptos"/>
              </a:rPr>
              <a:t>SERVICE and ADMIN relate to many SERVICE_REQUEST records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/>
          <p:cNvSpPr txBox="1"/>
          <p:nvPr/>
        </p:nvSpPr>
        <p:spPr>
          <a:xfrm>
            <a:off x="502920" y="32004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2200">
                <a:solidFill>
                  <a:srgbClr val="17201B"/>
                </a:solidFill>
              </a:defRPr>
            </a:pPr>
            <a:r>
              <a:rPr lang="en-US" sz="2200" b="1">
                <a:solidFill>
                  <a:srgbClr val="17201B"/>
                </a:solidFill>
                <a:latin typeface="Aptos"/>
              </a:rPr>
              <a:t>Implementation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75520" y="6473952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rPr lang="en-US" sz="700">
                <a:solidFill>
                  <a:srgbClr val="64748B"/>
                </a:solidFill>
                <a:latin typeface="Aptos"/>
              </a:rPr>
              <a:t>StartupGrow - 8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0352" y="749808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US" sz="900">
                <a:solidFill>
                  <a:srgbClr val="64748B"/>
                </a:solidFill>
                <a:latin typeface="Aptos"/>
              </a:rPr>
              <a:t>The project is implemented as a practical full-stack web application.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68680" y="1417320"/>
            <a:ext cx="5669280" cy="42062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-"/>
              <a:defRPr sz="1500">
                <a:solidFill>
                  <a:srgbClr val="17201B"/>
                </a:solidFill>
              </a:defRPr>
            </a:pPr>
            <a:r>
              <a:rPr lang="en-US" sz="1500">
                <a:solidFill>
                  <a:srgbClr val="17201B"/>
                </a:solidFill>
                <a:latin typeface="Aptos"/>
              </a:rPr>
              <a:t>Next.js app router powers the frontend.</a:t>
            </a:r>
          </a:p>
          <a:p>
            <a:pPr marL="285750" indent="-171450">
              <a:buChar char="-"/>
              <a:defRPr sz="1500">
                <a:solidFill>
                  <a:srgbClr val="17201B"/>
                </a:solidFill>
              </a:defRPr>
            </a:pPr>
            <a:r>
              <a:rPr lang="en-US" sz="1500">
                <a:solidFill>
                  <a:srgbClr val="17201B"/>
                </a:solidFill>
                <a:latin typeface="Aptos"/>
              </a:rPr>
              <a:t>Tailwind CSS handles responsive styling.</a:t>
            </a:r>
          </a:p>
          <a:p>
            <a:pPr marL="285750" indent="-171450">
              <a:buChar char="-"/>
              <a:defRPr sz="1500">
                <a:solidFill>
                  <a:srgbClr val="17201B"/>
                </a:solidFill>
              </a:defRPr>
            </a:pPr>
            <a:r>
              <a:rPr lang="en-US" sz="1500">
                <a:solidFill>
                  <a:srgbClr val="17201B"/>
                </a:solidFill>
                <a:latin typeface="Aptos"/>
              </a:rPr>
              <a:t>Express.js provides REST API endpoints.</a:t>
            </a:r>
          </a:p>
          <a:p>
            <a:pPr marL="285750" indent="-171450">
              <a:buChar char="-"/>
              <a:defRPr sz="1500">
                <a:solidFill>
                  <a:srgbClr val="17201B"/>
                </a:solidFill>
              </a:defRPr>
            </a:pPr>
            <a:r>
              <a:rPr lang="en-US" sz="1500">
                <a:solidFill>
                  <a:srgbClr val="17201B"/>
                </a:solidFill>
                <a:latin typeface="Aptos"/>
              </a:rPr>
              <a:t>Mongoose connects request data to MongoDB.</a:t>
            </a:r>
          </a:p>
          <a:p>
            <a:pPr marL="285750" indent="-171450">
              <a:buChar char="-"/>
              <a:defRPr sz="1500">
                <a:solidFill>
                  <a:srgbClr val="17201B"/>
                </a:solidFill>
              </a:defRPr>
            </a:pPr>
            <a:r>
              <a:rPr lang="en-US" sz="1500">
                <a:solidFill>
                  <a:srgbClr val="17201B"/>
                </a:solidFill>
                <a:latin typeface="Aptos"/>
              </a:rPr>
              <a:t>The API includes a memory fallback for local demonstrations.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766560" y="1417320"/>
            <a:ext cx="402336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D8E1D8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6766560" y="1417320"/>
            <a:ext cx="73152" cy="1828800"/>
          </a:xfrm>
          <a:prstGeom prst="rect">
            <a:avLst/>
          </a:prstGeom>
          <a:solidFill>
            <a:srgbClr val="1F7A4D"/>
          </a:solidFill>
          <a:ln>
            <a:solidFill>
              <a:srgbClr val="1F7A4D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6995160" y="1581912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1200">
                <a:solidFill>
                  <a:srgbClr val="17201B"/>
                </a:solidFill>
              </a:defRPr>
            </a:pPr>
            <a:r>
              <a:rPr lang="en-US" sz="1200" b="1">
                <a:solidFill>
                  <a:srgbClr val="17201B"/>
                </a:solidFill>
                <a:latin typeface="Aptos"/>
              </a:rPr>
              <a:t>Main Files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995160" y="1984248"/>
            <a:ext cx="3703320" cy="11704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US" sz="900">
                <a:solidFill>
                  <a:srgbClr val="64748B"/>
                </a:solidFill>
                <a:latin typeface="Aptos"/>
              </a:rPr>
              <a:t>app/page.js, components/QuoteForm.jsx, components/AdminPanel.jsx, server/index.js, server/models/ServiceRequest.js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/>
          <p:cNvSpPr txBox="1"/>
          <p:nvPr/>
        </p:nvSpPr>
        <p:spPr>
          <a:xfrm>
            <a:off x="502920" y="32004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2200">
                <a:solidFill>
                  <a:srgbClr val="17201B"/>
                </a:solidFill>
              </a:defRPr>
            </a:pPr>
            <a:r>
              <a:rPr lang="en-US" sz="2200" b="1">
                <a:solidFill>
                  <a:srgbClr val="17201B"/>
                </a:solidFill>
                <a:latin typeface="Aptos"/>
              </a:rPr>
              <a:t>Testing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75520" y="6473952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rPr lang="en-US" sz="700">
                <a:solidFill>
                  <a:srgbClr val="64748B"/>
                </a:solidFill>
                <a:latin typeface="Aptos"/>
              </a:rPr>
              <a:t>StartupGrow - 9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0352" y="749808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US" sz="900">
                <a:solidFill>
                  <a:srgbClr val="64748B"/>
                </a:solidFill>
                <a:latin typeface="Aptos"/>
              </a:rPr>
              <a:t>Testing focuses on correctness, usability, and reliable request handling.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14400" y="1417320"/>
            <a:ext cx="9966960" cy="42062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-"/>
              <a:defRPr sz="1600">
                <a:solidFill>
                  <a:srgbClr val="17201B"/>
                </a:solidFill>
              </a:defRPr>
            </a:pPr>
            <a:r>
              <a:rPr lang="en-US" sz="1600">
                <a:solidFill>
                  <a:srgbClr val="17201B"/>
                </a:solidFill>
                <a:latin typeface="Aptos"/>
              </a:rPr>
              <a:t>Functional testing for request form submission.</a:t>
            </a:r>
          </a:p>
          <a:p>
            <a:pPr marL="285750" indent="-171450">
              <a:buChar char="-"/>
              <a:defRPr sz="1600">
                <a:solidFill>
                  <a:srgbClr val="17201B"/>
                </a:solidFill>
              </a:defRPr>
            </a:pPr>
            <a:r>
              <a:rPr lang="en-US" sz="1600">
                <a:solidFill>
                  <a:srgbClr val="17201B"/>
                </a:solidFill>
                <a:latin typeface="Aptos"/>
              </a:rPr>
              <a:t>API testing for create, list, health, and status update endpoints.</a:t>
            </a:r>
          </a:p>
          <a:p>
            <a:pPr marL="285750" indent="-171450">
              <a:buChar char="-"/>
              <a:defRPr sz="1600">
                <a:solidFill>
                  <a:srgbClr val="17201B"/>
                </a:solidFill>
              </a:defRPr>
            </a:pPr>
            <a:r>
              <a:rPr lang="en-US" sz="1600">
                <a:solidFill>
                  <a:srgbClr val="17201B"/>
                </a:solidFill>
                <a:latin typeface="Aptos"/>
              </a:rPr>
              <a:t>UI testing for responsive website layout.</a:t>
            </a:r>
          </a:p>
          <a:p>
            <a:pPr marL="285750" indent="-171450">
              <a:buChar char="-"/>
              <a:defRPr sz="1600">
                <a:solidFill>
                  <a:srgbClr val="17201B"/>
                </a:solidFill>
              </a:defRPr>
            </a:pPr>
            <a:r>
              <a:rPr lang="en-US" sz="1600">
                <a:solidFill>
                  <a:srgbClr val="17201B"/>
                </a:solidFill>
                <a:latin typeface="Aptos"/>
              </a:rPr>
              <a:t>Build testing with Next.js production build.</a:t>
            </a:r>
          </a:p>
          <a:p>
            <a:pPr marL="285750" indent="-171450">
              <a:buChar char="-"/>
              <a:defRPr sz="1600">
                <a:solidFill>
                  <a:srgbClr val="17201B"/>
                </a:solidFill>
              </a:defRPr>
            </a:pPr>
            <a:r>
              <a:rPr lang="en-US" sz="1600">
                <a:solidFill>
                  <a:srgbClr val="17201B"/>
                </a:solidFill>
                <a:latin typeface="Aptos"/>
              </a:rPr>
              <a:t>Database testing with MongoDB connection and request storage.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/>
          <p:cNvSpPr txBox="1"/>
          <p:nvPr/>
        </p:nvSpPr>
        <p:spPr>
          <a:xfrm>
            <a:off x="502920" y="32004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2200">
                <a:solidFill>
                  <a:srgbClr val="17201B"/>
                </a:solidFill>
              </a:defRPr>
            </a:pPr>
            <a:r>
              <a:rPr lang="en-US" sz="2200" b="1">
                <a:solidFill>
                  <a:srgbClr val="17201B"/>
                </a:solidFill>
                <a:latin typeface="Aptos"/>
              </a:rPr>
              <a:t>Conclusion and Future Enhancements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75520" y="6473952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rPr lang="en-US" sz="700">
                <a:solidFill>
                  <a:srgbClr val="64748B"/>
                </a:solidFill>
                <a:latin typeface="Aptos"/>
              </a:rPr>
              <a:t>StartupGrow - 10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0352" y="749808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US" sz="900">
                <a:solidFill>
                  <a:srgbClr val="64748B"/>
                </a:solidFill>
                <a:latin typeface="Aptos"/>
              </a:rPr>
              <a:t>StartupGrow provides a scalable base for digital startup services.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68680" y="1417320"/>
            <a:ext cx="6583680" cy="33832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-"/>
              <a:defRPr sz="1500">
                <a:solidFill>
                  <a:srgbClr val="17201B"/>
                </a:solidFill>
              </a:defRPr>
            </a:pPr>
            <a:r>
              <a:rPr lang="en-US" sz="1500">
                <a:solidFill>
                  <a:srgbClr val="17201B"/>
                </a:solidFill>
                <a:latin typeface="Aptos"/>
              </a:rPr>
              <a:t>The project delivers a responsive frontend, backend API, MongoDB model, and admin dashboard.</a:t>
            </a:r>
          </a:p>
          <a:p>
            <a:pPr marL="285750" indent="-171450">
              <a:buChar char="-"/>
              <a:defRPr sz="1500">
                <a:solidFill>
                  <a:srgbClr val="17201B"/>
                </a:solidFill>
              </a:defRPr>
            </a:pPr>
            <a:r>
              <a:rPr lang="en-US" sz="1500">
                <a:solidFill>
                  <a:srgbClr val="17201B"/>
                </a:solidFill>
                <a:latin typeface="Aptos"/>
              </a:rPr>
              <a:t>It helps startups request affordable digital services from one platform.</a:t>
            </a:r>
          </a:p>
          <a:p>
            <a:pPr marL="285750" indent="-171450">
              <a:buChar char="-"/>
              <a:defRPr sz="1500">
                <a:solidFill>
                  <a:srgbClr val="17201B"/>
                </a:solidFill>
              </a:defRPr>
            </a:pPr>
            <a:r>
              <a:rPr lang="en-US" sz="1500">
                <a:solidFill>
                  <a:srgbClr val="17201B"/>
                </a:solidFill>
                <a:latin typeface="Aptos"/>
              </a:rPr>
              <a:t>Future versions can add client login, payments, project tracking, analytics, and AI suggestions.</a:t>
            </a:r>
          </a:p>
        </p:txBody>
      </p:sp>
      <p:sp>
        <p:nvSpPr>
          <p:cNvPr id="40" name="Rectangle 40"/>
          <p:cNvSpPr/>
          <p:nvPr/>
        </p:nvSpPr>
        <p:spPr>
          <a:xfrm>
            <a:off x="7818120" y="1508760"/>
            <a:ext cx="297180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8E1D8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7818120" y="1508760"/>
            <a:ext cx="73152" cy="1508760"/>
          </a:xfrm>
          <a:prstGeom prst="rect">
            <a:avLst/>
          </a:prstGeom>
          <a:solidFill>
            <a:srgbClr val="1F7A4D"/>
          </a:solidFill>
          <a:ln>
            <a:solidFill>
              <a:srgbClr val="1F7A4D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8046720" y="1673351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1200">
                <a:solidFill>
                  <a:srgbClr val="17201B"/>
                </a:solidFill>
              </a:defRPr>
            </a:pPr>
            <a:r>
              <a:rPr lang="en-US" sz="1200" b="1">
                <a:solidFill>
                  <a:srgbClr val="17201B"/>
                </a:solidFill>
                <a:latin typeface="Aptos"/>
              </a:rPr>
              <a:t>Result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046720" y="2075688"/>
            <a:ext cx="2651760" cy="8503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US" sz="900">
                <a:solidFill>
                  <a:srgbClr val="64748B"/>
                </a:solidFill>
                <a:latin typeface="Aptos"/>
              </a:rPr>
              <a:t>A practical platform for Indian startups to begin building their online presence.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rtupGrow">
  <a:themeElements>
    <a:clrScheme name="StartupGrow">
      <a:dk1>
        <a:srgbClr val="17201B"/>
      </a:dk1>
      <a:lt1>
        <a:srgbClr val="FFFFFF"/>
      </a:lt1>
      <a:dk2>
        <a:srgbClr val="22577A"/>
      </a:dk2>
      <a:lt2>
        <a:srgbClr val="F5F8F2"/>
      </a:lt2>
      <a:accent1>
        <a:srgbClr val="1F7A4D"/>
      </a:accent1>
      <a:accent2>
        <a:srgbClr val="F59F30"/>
      </a:accent2>
      <a:accent3>
        <a:srgbClr val="22577A"/>
      </a:accent3>
      <a:accent4>
        <a:srgbClr val="64748B"/>
      </a:accent4>
      <a:accent5>
        <a:srgbClr val="D8E1D8"/>
      </a:accent5>
      <a:accent6>
        <a:srgbClr val="17201B"/>
      </a:accent6>
      <a:hlink>
        <a:srgbClr val="22577A"/>
      </a:hlink>
      <a:folHlink>
        <a:srgbClr val="1F7A4D"/>
      </a:folHlink>
    </a:clrScheme>
    <a:fontScheme name="StartupGrow">
      <a:majorFont>
        <a:latin typeface="Aptos Display"/>
      </a:majorFont>
      <a:minorFont>
        <a:latin typeface="Aptos"/>
      </a:minorFont>
    </a:fontScheme>
    <a:fmtScheme name="StartupGrow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StartupGrow Generator</Application>
  <PresentationFormat>Widescreen</PresentationFormat>
  <Slides>10</Slides>
  <Company>StartupGrow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StartupGrow</dc:title>
  <dc:subject>Digital Solutions Platform for Indian Startups</dc:subject>
  <dc:creator>StartupGrow Team</dc:creator>
  <cp:lastModifiedBy>StartupGrow Team</cp:lastModifiedBy>
  <dcterms:created xsi:type="dcterms:W3CDTF">2026-05-05T17:33:52+00:00</dcterms:created>
  <dcterms:modified xsi:type="dcterms:W3CDTF">2026-05-05T17:33:52+00:00</dcterms:modified>
</cp:coreProperties>
</file>